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8" r:id="rId19"/>
    <p:sldId id="273" r:id="rId20"/>
    <p:sldId id="274" r:id="rId21"/>
    <p:sldId id="275" r:id="rId22"/>
    <p:sldId id="276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H:\Google%20Drive\Shmuel\&#1513;&#1504;&#1511;&#1512;\&#1508;&#1512;&#1493;&#1497;&#1497;&#1511;&#1496;%20&#1505;&#1497;&#1493;&#1501;\Project%20FSCO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Armor Points</c:v>
          </c:tx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FSCORD.xlsx]טנקים'!$B$2:$B$6</c:f>
              <c:numCache>
                <c:formatCode>General</c:formatCode>
                <c:ptCount val="5"/>
                <c:pt idx="0">
                  <c:v>10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6943488"/>
        <c:axId val="98348416"/>
        <c:axId val="153855744"/>
      </c:bar3DChart>
      <c:catAx>
        <c:axId val="96943488"/>
        <c:scaling>
          <c:orientation val="maxMin"/>
        </c:scaling>
        <c:delete val="0"/>
        <c:axPos val="b"/>
        <c:majorTickMark val="out"/>
        <c:minorTickMark val="none"/>
        <c:tickLblPos val="nextTo"/>
        <c:crossAx val="98348416"/>
        <c:crosses val="autoZero"/>
        <c:auto val="1"/>
        <c:lblAlgn val="ctr"/>
        <c:lblOffset val="100"/>
        <c:noMultiLvlLbl val="0"/>
      </c:catAx>
      <c:valAx>
        <c:axId val="98348416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96943488"/>
        <c:crosses val="autoZero"/>
        <c:crossBetween val="between"/>
      </c:valAx>
      <c:serAx>
        <c:axId val="153855744"/>
        <c:scaling>
          <c:orientation val="minMax"/>
        </c:scaling>
        <c:delete val="0"/>
        <c:axPos val="b"/>
        <c:majorTickMark val="out"/>
        <c:minorTickMark val="none"/>
        <c:tickLblPos val="nextTo"/>
        <c:crossAx val="98348416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Hit Points</c:v>
          </c:tx>
          <c:spPr>
            <a:solidFill>
              <a:schemeClr val="accent2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FSCORD.xlsx]טנקים'!$C$2:$C$6</c:f>
              <c:numCache>
                <c:formatCode>General</c:formatCode>
                <c:ptCount val="5"/>
                <c:pt idx="0">
                  <c:v>250</c:v>
                </c:pt>
                <c:pt idx="1">
                  <c:v>600</c:v>
                </c:pt>
                <c:pt idx="2">
                  <c:v>100</c:v>
                </c:pt>
                <c:pt idx="3">
                  <c:v>300</c:v>
                </c:pt>
                <c:pt idx="4">
                  <c:v>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1932928"/>
        <c:axId val="131934464"/>
        <c:axId val="153813888"/>
      </c:bar3DChart>
      <c:catAx>
        <c:axId val="131932928"/>
        <c:scaling>
          <c:orientation val="maxMin"/>
        </c:scaling>
        <c:delete val="0"/>
        <c:axPos val="b"/>
        <c:majorTickMark val="out"/>
        <c:minorTickMark val="none"/>
        <c:tickLblPos val="nextTo"/>
        <c:crossAx val="131934464"/>
        <c:crosses val="autoZero"/>
        <c:auto val="1"/>
        <c:lblAlgn val="ctr"/>
        <c:lblOffset val="100"/>
        <c:noMultiLvlLbl val="0"/>
      </c:catAx>
      <c:valAx>
        <c:axId val="131934464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1932928"/>
        <c:crosses val="autoZero"/>
        <c:crossBetween val="between"/>
      </c:valAx>
      <c:serAx>
        <c:axId val="153813888"/>
        <c:scaling>
          <c:orientation val="minMax"/>
        </c:scaling>
        <c:delete val="0"/>
        <c:axPos val="b"/>
        <c:majorTickMark val="out"/>
        <c:minorTickMark val="none"/>
        <c:tickLblPos val="nextTo"/>
        <c:crossAx val="131934464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Damage</c:v>
          </c:tx>
          <c:spPr>
            <a:solidFill>
              <a:schemeClr val="accent3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FSCORD.xlsx]טנקים'!$D$2:$D$6</c:f>
              <c:numCache>
                <c:formatCode>General</c:formatCode>
                <c:ptCount val="5"/>
                <c:pt idx="0">
                  <c:v>30</c:v>
                </c:pt>
                <c:pt idx="1">
                  <c:v>100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1434752"/>
        <c:axId val="131473792"/>
        <c:axId val="76686208"/>
      </c:bar3DChart>
      <c:catAx>
        <c:axId val="131434752"/>
        <c:scaling>
          <c:orientation val="maxMin"/>
        </c:scaling>
        <c:delete val="0"/>
        <c:axPos val="b"/>
        <c:majorTickMark val="out"/>
        <c:minorTickMark val="none"/>
        <c:tickLblPos val="nextTo"/>
        <c:crossAx val="131473792"/>
        <c:crosses val="autoZero"/>
        <c:auto val="1"/>
        <c:lblAlgn val="ctr"/>
        <c:lblOffset val="100"/>
        <c:noMultiLvlLbl val="0"/>
      </c:catAx>
      <c:valAx>
        <c:axId val="131473792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1434752"/>
        <c:crosses val="autoZero"/>
        <c:crossBetween val="between"/>
      </c:valAx>
      <c:serAx>
        <c:axId val="76686208"/>
        <c:scaling>
          <c:orientation val="minMax"/>
        </c:scaling>
        <c:delete val="0"/>
        <c:axPos val="b"/>
        <c:majorTickMark val="out"/>
        <c:minorTickMark val="none"/>
        <c:tickLblPos val="nextTo"/>
        <c:crossAx val="131473792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Rate of Fire</c:v>
          </c:tx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FSCORD.xlsx]טנקים'!$E$2:$E$6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1433600"/>
        <c:axId val="131514752"/>
        <c:axId val="77824448"/>
      </c:bar3DChart>
      <c:catAx>
        <c:axId val="131433600"/>
        <c:scaling>
          <c:orientation val="maxMin"/>
        </c:scaling>
        <c:delete val="0"/>
        <c:axPos val="b"/>
        <c:majorTickMark val="out"/>
        <c:minorTickMark val="none"/>
        <c:tickLblPos val="nextTo"/>
        <c:crossAx val="131514752"/>
        <c:crosses val="autoZero"/>
        <c:auto val="1"/>
        <c:lblAlgn val="ctr"/>
        <c:lblOffset val="100"/>
        <c:noMultiLvlLbl val="0"/>
      </c:catAx>
      <c:valAx>
        <c:axId val="131514752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131433600"/>
        <c:crosses val="autoZero"/>
        <c:crossBetween val="between"/>
      </c:valAx>
      <c:serAx>
        <c:axId val="77824448"/>
        <c:scaling>
          <c:orientation val="minMax"/>
        </c:scaling>
        <c:delete val="0"/>
        <c:axPos val="b"/>
        <c:majorTickMark val="out"/>
        <c:minorTickMark val="none"/>
        <c:tickLblPos val="nextTo"/>
        <c:crossAx val="131514752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'[Project FSCORD.xlsx]טנקים'!$F$1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FSCORD.xlsx]טנקים'!$F$2:$F$6</c:f>
              <c:numCache>
                <c:formatCode>0%</c:formatCode>
                <c:ptCount val="5"/>
                <c:pt idx="0">
                  <c:v>0.7</c:v>
                </c:pt>
                <c:pt idx="1">
                  <c:v>0.9</c:v>
                </c:pt>
                <c:pt idx="2">
                  <c:v>0.65</c:v>
                </c:pt>
                <c:pt idx="3">
                  <c:v>0.8</c:v>
                </c:pt>
                <c:pt idx="4">
                  <c:v>0.9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90240"/>
        <c:axId val="50592000"/>
        <c:axId val="131673152"/>
      </c:bar3DChart>
      <c:catAx>
        <c:axId val="1690240"/>
        <c:scaling>
          <c:orientation val="maxMin"/>
        </c:scaling>
        <c:delete val="0"/>
        <c:axPos val="b"/>
        <c:majorTickMark val="out"/>
        <c:minorTickMark val="none"/>
        <c:tickLblPos val="nextTo"/>
        <c:crossAx val="50592000"/>
        <c:crosses val="autoZero"/>
        <c:auto val="1"/>
        <c:lblAlgn val="ctr"/>
        <c:lblOffset val="100"/>
        <c:noMultiLvlLbl val="0"/>
      </c:catAx>
      <c:valAx>
        <c:axId val="50592000"/>
        <c:scaling>
          <c:orientation val="minMax"/>
        </c:scaling>
        <c:delete val="0"/>
        <c:axPos val="r"/>
        <c:majorGridlines/>
        <c:numFmt formatCode="0%" sourceLinked="1"/>
        <c:majorTickMark val="out"/>
        <c:minorTickMark val="none"/>
        <c:tickLblPos val="nextTo"/>
        <c:crossAx val="1690240"/>
        <c:crosses val="autoZero"/>
        <c:crossBetween val="between"/>
      </c:valAx>
      <c:serAx>
        <c:axId val="131673152"/>
        <c:scaling>
          <c:orientation val="minMax"/>
        </c:scaling>
        <c:delete val="0"/>
        <c:axPos val="b"/>
        <c:majorTickMark val="out"/>
        <c:minorTickMark val="none"/>
        <c:tickLblPos val="nextTo"/>
        <c:crossAx val="50592000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view3D>
      <c:rotX val="15"/>
      <c:rotY val="34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44251632417898984"/>
          <c:y val="0.15272525240914228"/>
          <c:w val="0.48249215799244605"/>
          <c:h val="0.78222477664744461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'[Project FSCORD.xlsx]טנקים'!$G$1</c:f>
              <c:strCache>
                <c:ptCount val="1"/>
                <c:pt idx="0">
                  <c:v>Speed (Meters/Second)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'[Project FSCORD.xlsx]טנקים'!$A$2:$A$6</c:f>
              <c:strCache>
                <c:ptCount val="5"/>
                <c:pt idx="0">
                  <c:v>M-60A3</c:v>
                </c:pt>
                <c:pt idx="1">
                  <c:v>M1</c:v>
                </c:pt>
                <c:pt idx="2">
                  <c:v>T-55</c:v>
                </c:pt>
                <c:pt idx="3">
                  <c:v>T-62</c:v>
                </c:pt>
                <c:pt idx="4">
                  <c:v>T-72</c:v>
                </c:pt>
              </c:strCache>
            </c:strRef>
          </c:cat>
          <c:val>
            <c:numRef>
              <c:f>'[Project FSCORD.xlsx]טנקים'!$G$2:$G$6</c:f>
              <c:numCache>
                <c:formatCode>General</c:formatCode>
                <c:ptCount val="5"/>
                <c:pt idx="0">
                  <c:v>80</c:v>
                </c:pt>
                <c:pt idx="1">
                  <c:v>75</c:v>
                </c:pt>
                <c:pt idx="2">
                  <c:v>90</c:v>
                </c:pt>
                <c:pt idx="3">
                  <c:v>80</c:v>
                </c:pt>
                <c:pt idx="4">
                  <c:v>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6992640"/>
        <c:axId val="98212864"/>
        <c:axId val="134505792"/>
      </c:bar3DChart>
      <c:catAx>
        <c:axId val="96992640"/>
        <c:scaling>
          <c:orientation val="maxMin"/>
        </c:scaling>
        <c:delete val="0"/>
        <c:axPos val="b"/>
        <c:majorTickMark val="out"/>
        <c:minorTickMark val="none"/>
        <c:tickLblPos val="nextTo"/>
        <c:crossAx val="98212864"/>
        <c:crosses val="autoZero"/>
        <c:auto val="1"/>
        <c:lblAlgn val="ctr"/>
        <c:lblOffset val="100"/>
        <c:noMultiLvlLbl val="0"/>
      </c:catAx>
      <c:valAx>
        <c:axId val="98212864"/>
        <c:scaling>
          <c:orientation val="minMax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crossAx val="96992640"/>
        <c:crosses val="autoZero"/>
        <c:crossBetween val="between"/>
      </c:valAx>
      <c:serAx>
        <c:axId val="134505792"/>
        <c:scaling>
          <c:orientation val="minMax"/>
        </c:scaling>
        <c:delete val="0"/>
        <c:axPos val="b"/>
        <c:majorTickMark val="out"/>
        <c:minorTickMark val="none"/>
        <c:tickLblPos val="nextTo"/>
        <c:crossAx val="98212864"/>
        <c:crosses val="autoZero"/>
      </c:serAx>
    </c:plotArea>
    <c:legend>
      <c:legendPos val="l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099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63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590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249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003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425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023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868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981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025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159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D256-99E5-4BFC-8D42-7BB0A4C71E63}" type="datetimeFigureOut">
              <a:rPr lang="he-IL" smtClean="0"/>
              <a:t>כ"ח/תמוז/תשע"ה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7D45C-7945-4BBF-A1AC-9DC38D824D3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5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youtube.com/watch?v=zlvodY3o65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21.xml"/><Relationship Id="rId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w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US" dirty="0" smtClean="0"/>
              <a:t>FSCORD</a:t>
            </a:r>
            <a:r>
              <a:rPr lang="en-US" dirty="0"/>
              <a:t> </a:t>
            </a:r>
            <a:r>
              <a:rPr lang="en-US" dirty="0" smtClean="0"/>
              <a:t>– Battle for Fulda Gap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2530" name="Picture 2" descr="H:\Google Drive\Shmuel\שנקר\פרוייקט סיום\Rout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8995"/>
            <a:ext cx="396112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1" name="Picture 3" descr="H:\Google Drive\Shmuel\שנקר\פרוייקט סיום\himars_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17032"/>
            <a:ext cx="4058568" cy="290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H:\Google Drive\Shmuel\שנקר\פרוייקט סיום\1-vP8zdi5zy4ZifbVDnrvKhg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284984"/>
            <a:ext cx="4002746" cy="297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dirty="0"/>
              <a:t>Single player, fast paced arcade for tablets, with </a:t>
            </a:r>
            <a:r>
              <a:rPr lang="en-US" dirty="0" smtClean="0"/>
              <a:t>elements </a:t>
            </a:r>
            <a:r>
              <a:rPr lang="en-US" dirty="0"/>
              <a:t>of </a:t>
            </a:r>
            <a:r>
              <a:rPr lang="en-US" dirty="0" smtClean="0"/>
              <a:t>MOBA </a:t>
            </a:r>
            <a:r>
              <a:rPr lang="en-US" dirty="0"/>
              <a:t>and RPG</a:t>
            </a:r>
            <a:r>
              <a:rPr lang="en-US" dirty="0" smtClean="0"/>
              <a:t>.</a:t>
            </a:r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r>
              <a:rPr lang="en-US" sz="1800" dirty="0" smtClean="0"/>
              <a:t>A combination of this:</a:t>
            </a:r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endParaRPr lang="en-US" sz="1800" dirty="0"/>
          </a:p>
          <a:p>
            <a:pPr marL="0" indent="0" algn="l" rtl="0">
              <a:buNone/>
            </a:pPr>
            <a:endParaRPr lang="en-US" sz="1800" dirty="0" smtClean="0"/>
          </a:p>
          <a:p>
            <a:pPr marL="0" indent="0" algn="l" rtl="0">
              <a:buNone/>
            </a:pPr>
            <a:r>
              <a:rPr lang="en-US" sz="1800" dirty="0" smtClean="0"/>
              <a:t>And this (min. 25-31):</a:t>
            </a:r>
          </a:p>
          <a:p>
            <a:pPr marL="0" indent="0" algn="l" rtl="0">
              <a:buNone/>
            </a:pPr>
            <a:r>
              <a:rPr lang="la-Latn" sz="1800" dirty="0" smtClean="0">
                <a:hlinkClick r:id="rId2"/>
              </a:rPr>
              <a:t>https://www.youtube.com/watch?v=zlvodY3o65U</a:t>
            </a:r>
            <a:r>
              <a:rPr lang="en-US" sz="1800" dirty="0" smtClean="0"/>
              <a:t> </a:t>
            </a:r>
            <a:endParaRPr lang="he-IL" sz="1800" dirty="0"/>
          </a:p>
        </p:txBody>
      </p:sp>
      <p:pic>
        <p:nvPicPr>
          <p:cNvPr id="1027" name="Picture 3" descr="H:\Google Drive\Shmuel\שנקר\פרוייקט סיום\Ninja Frui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22" y="3356992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87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/>
              <a:t>It is 1983. The Cold war is at its peak. One Sunday morning, the sirens begin. You are a Fire Support Coordination Officer (FSCORD) in the 1</a:t>
            </a:r>
            <a:r>
              <a:rPr lang="en-US" baseline="30000" dirty="0"/>
              <a:t>st</a:t>
            </a:r>
            <a:r>
              <a:rPr lang="en-US" dirty="0"/>
              <a:t> Squadron, 11</a:t>
            </a:r>
            <a:r>
              <a:rPr lang="en-US" baseline="30000" dirty="0"/>
              <a:t>th</a:t>
            </a:r>
            <a:r>
              <a:rPr lang="en-US" dirty="0"/>
              <a:t> Cavalry Regiment, US </a:t>
            </a:r>
            <a:r>
              <a:rPr lang="en-US" dirty="0" smtClean="0"/>
              <a:t>Army, station in the Fulda Gap. </a:t>
            </a:r>
            <a:r>
              <a:rPr lang="en-US" dirty="0"/>
              <a:t>You and your tank troop are the only force between the enemy and Frankfurt. The Soviets are coming.</a:t>
            </a:r>
            <a:endParaRPr lang="he-IL" dirty="0"/>
          </a:p>
        </p:txBody>
      </p:sp>
      <p:pic>
        <p:nvPicPr>
          <p:cNvPr id="2051" name="Picture 3" descr="H:\Google Drive\Shmuel\שנקר\פרוייקט סיום\fulda-g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437112"/>
            <a:ext cx="2823935" cy="216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93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Touch interface and gestures: Taping on the screen employs artillery in the game.</a:t>
            </a:r>
          </a:p>
          <a:p>
            <a:pPr lvl="1" algn="l" rtl="0"/>
            <a:r>
              <a:rPr lang="en-US" u="none" strike="noStrike" dirty="0" smtClean="0">
                <a:effectLst/>
                <a:hlinkClick r:id="rId2" action="ppaction://hlinksldjump"/>
              </a:rPr>
              <a:t>One tap: one High Explosive (HE) shell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3" action="ppaction://hlinksldjump"/>
              </a:rPr>
              <a:t>Circle gestures and tapping inside: concentrated artillery strike (with slow motion)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4" action="ppaction://hlinksldjump"/>
              </a:rPr>
              <a:t>Swipe: Napalm strike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5" action="ppaction://hlinksldjump"/>
              </a:rPr>
              <a:t>X: Daisy cutter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6" action="ppaction://hlinksldjump"/>
              </a:rPr>
              <a:t>Press &amp; Drag: </a:t>
            </a:r>
            <a:r>
              <a:rPr lang="en-US" u="none" strike="noStrike" dirty="0" err="1" smtClean="0">
                <a:effectLst/>
                <a:hlinkClick r:id="rId6" action="ppaction://hlinksldjump"/>
              </a:rPr>
              <a:t>Scaterable</a:t>
            </a:r>
            <a:r>
              <a:rPr lang="en-US" u="none" strike="noStrike" dirty="0" smtClean="0">
                <a:effectLst/>
                <a:hlinkClick r:id="rId6" action="ppaction://hlinksldjump"/>
              </a:rPr>
              <a:t> mines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  <a:hlinkClick r:id="rId7" action="ppaction://hlinksldjump"/>
              </a:rPr>
              <a:t>Press and Shake Device: Tactical Nuke</a:t>
            </a:r>
            <a:r>
              <a:rPr lang="en-US" u="none" strike="noStrike" dirty="0" smtClean="0">
                <a:effectLst/>
              </a:rPr>
              <a:t>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Two finger swipe: Move camera.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Press and Rotate: Pan camera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Spread/Pinch: Zoom in/out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600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Explosive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3074" name="Picture 2" descr="H:\Google Drive\Shmuel\שנקר\פרוייקט סיום\FSCORD - H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36346" y="56710"/>
            <a:ext cx="5508000" cy="778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חץ פניית פרסה 3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645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High Explosive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8194" name="Picture 2" descr="H:\Google Drive\Shmuel\שנקר\פרוייקט סיום\FSCORD - Cluster H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815" y="21952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36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Napalm Strike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H:\Google Drive\Shmuel\שנקר\פרוייקט סיום\FSCORD - Napla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719" y="176296"/>
            <a:ext cx="5508000" cy="77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27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Scatrable</a:t>
            </a:r>
            <a:r>
              <a:rPr lang="en-US" dirty="0" smtClean="0"/>
              <a:t> Mines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6146" name="Picture 2" descr="H:\Google Drive\Shmuel\שנקר\פרוייקט סיום\FSCORD - Min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821718" y="84444"/>
            <a:ext cx="5508000" cy="778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38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Daisy Cutter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122" name="Picture 2" descr="H:\Google Drive\Shmuel\שנקר\פרוייקט סיום\FSCORD - Daisy Cutt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677798" y="113033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42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Tactical Nuke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7170" name="Picture 2" descr="H:\Google Drive\Shmuel\שנקר\פרוייקט סיום\FSCORD - Nuk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49807" y="109852"/>
            <a:ext cx="5508000" cy="778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חץ פניית פרסה 4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3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Artillery Damage</a:t>
            </a:r>
            <a:endParaRPr lang="he-IL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2" y="3573016"/>
            <a:ext cx="9026534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40705"/>
              </p:ext>
            </p:extLst>
          </p:nvPr>
        </p:nvGraphicFramePr>
        <p:xfrm>
          <a:off x="539552" y="1268760"/>
          <a:ext cx="8229593" cy="1979024"/>
        </p:xfrm>
        <a:graphic>
          <a:graphicData uri="http://schemas.openxmlformats.org/drawingml/2006/table">
            <a:tbl>
              <a:tblPr rtl="1"/>
              <a:tblGrid>
                <a:gridCol w="760719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  <a:gridCol w="533491"/>
              </a:tblGrid>
              <a:tr h="422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Diameter of Effect (Meters)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</a:txBody>
                  <a:tcPr marL="7410" marR="7410" marT="741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Ammunition Type/Damage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Explosive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347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Naplam (Damage per Second*)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Scaterable Mines**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Daizy Cutter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782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Tactical Nuke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</a:t>
                      </a:r>
                    </a:p>
                  </a:txBody>
                  <a:tcPr marL="7410" marR="7410" marT="74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648664"/>
              </p:ext>
            </p:extLst>
          </p:nvPr>
        </p:nvGraphicFramePr>
        <p:xfrm>
          <a:off x="107504" y="5373216"/>
          <a:ext cx="1872208" cy="1628775"/>
        </p:xfrm>
        <a:graphic>
          <a:graphicData uri="http://schemas.openxmlformats.org/drawingml/2006/table">
            <a:tbl>
              <a:tblPr rtl="1"/>
              <a:tblGrid>
                <a:gridCol w="1872208"/>
              </a:tblGrid>
              <a:tr h="723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*Naplam will cause damage for 10 seconds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**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scatrable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mine will stop an effected tank for 5 seconds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69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/>
          <a:lstStyle/>
          <a:p>
            <a:r>
              <a:rPr lang="en-US" dirty="0" smtClean="0"/>
              <a:t>Gameplay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5661248"/>
            <a:ext cx="8229600" cy="464915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dirty="0" smtClean="0">
                <a:hlinkClick r:id="rId2" action="ppaction://hlinksldjump"/>
              </a:rPr>
              <a:t>Details</a:t>
            </a:r>
            <a:endParaRPr lang="he-IL" dirty="0"/>
          </a:p>
        </p:txBody>
      </p:sp>
      <p:pic>
        <p:nvPicPr>
          <p:cNvPr id="9218" name="Picture 2" descr="H:\Google Drive\Shmuel\שנקר\פרוייקט סיום\FSCORD - General Gamepla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764704"/>
            <a:ext cx="4673362" cy="604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45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Gameplay Details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256584"/>
          </a:xfrm>
        </p:spPr>
        <p:txBody>
          <a:bodyPr>
            <a:normAutofit fontScale="4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In the beginning of the game, American tanks start at one area of the map.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American tanks automatically move towards Control Points on the screen.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Soviet tanks instantiate in waves on a certain area in the map and move towards the same Control Points.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 majority of the screen will be covered with fog of war.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Some levels will contain American listening posts which will reveal a certain area of the screen, allowing artillery interdiction.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American tanks will reveal a certain area of the screen around them, allowing for artillery engagement of Soviet forces.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When both forces meet, they engage.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American forces enter position and leave them only after the wave ends.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Generally, Soviets will enjoy (vast) numerical superiority in tanks over the American forces.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needs to employ artillery to destroy Soviet forces and support his tanks. There are several types of artillery munitions: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All munitions will be given to the player randomly after destroying Soviet vehicles.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Ammunition will be kept between levels.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There are 2 types of maps: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Capture the Flag: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Upon reaching a Control Point and clearing it, tanks will start to capture it.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Every few seconds, each captured Control Point adds a certain amount to the Control Score.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The side that reaches the Score Goal wins.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Alternately, the side that runs out of tanks first, loose.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Reach the End of the Screen: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Each side needs to bring his forces to the opposite side's base (spawn point).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The side that reaches that point first, wins.</a:t>
            </a:r>
          </a:p>
          <a:p>
            <a:pPr lvl="2" algn="l" rtl="0"/>
            <a:r>
              <a:rPr lang="en-US" u="none" strike="noStrike" dirty="0" smtClean="0">
                <a:effectLst/>
              </a:rPr>
              <a:t>Alternately, the side that runs out of tanks first, loose.</a:t>
            </a:r>
          </a:p>
          <a:p>
            <a:pPr algn="l" rtl="0"/>
            <a:endParaRPr lang="he-IL" dirty="0"/>
          </a:p>
        </p:txBody>
      </p:sp>
      <p:sp>
        <p:nvSpPr>
          <p:cNvPr id="4" name="חץ פניית פרסה 3">
            <a:hlinkClick r:id="rId2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764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Levels Progression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10242" name="Picture 2" descr="H:\Google Drive\Shmuel\שנקר\פרוייקט סיום\FSCORD - Level Progressi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1412776"/>
            <a:ext cx="5362132" cy="693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ציין מיקום תוכן 2"/>
          <p:cNvSpPr txBox="1">
            <a:spLocks/>
          </p:cNvSpPr>
          <p:nvPr/>
        </p:nvSpPr>
        <p:spPr>
          <a:xfrm>
            <a:off x="323528" y="5662656"/>
            <a:ext cx="8229600" cy="464915"/>
          </a:xfrm>
          <a:prstGeom prst="rect">
            <a:avLst/>
          </a:prstGeom>
        </p:spPr>
        <p:txBody>
          <a:bodyPr vert="horz" lIns="91440" tIns="45720" rIns="91440" bIns="45720" rtlCol="1">
            <a:normAutofit fontScale="92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anose="020B0604020202020204" pitchFamily="34" charset="0"/>
              <a:buNone/>
            </a:pPr>
            <a:r>
              <a:rPr lang="en-US" dirty="0" smtClean="0">
                <a:hlinkClick r:id="rId3" action="ppaction://hlinksldjump"/>
              </a:rPr>
              <a:t>Details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777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Level Progression Details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3846" y="1285352"/>
            <a:ext cx="8229600" cy="5092688"/>
          </a:xfrm>
        </p:spPr>
        <p:txBody>
          <a:bodyPr>
            <a:normAutofit fontScale="4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The game will have a "spectrum" of X numbers of levels depicting the tides of the war. 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The player will start the game in level 0.5X.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the player will lose, but not all of his tanks will be destroyed, he will start level (current level)-(one level). i.e., NATO was pushed further west.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the player will win, he will start at level (current level) + (one level). i.e., the Soviets were pushed further east.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Upon winning level X, the player will win the game.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Upon loosing level 1, the player will lose the game.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If all the player's tanks were destroyed, he will lose the game.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At the end of each level player will receive score and requisition points according to the following criteria: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Number of Soviet tanks killed with artillery fire.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Number of American tanks survived.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Time elapsed from beginning of level.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Between levels, player will be able to buy reinforcement tanks and special ammunition for the next level.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Each level, the player will start with the same amount of tanks had had at the end of the previous level.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Tanks will earn experience points (XP) for enemies they killed. XP will improve tanks stats (Hit Points, rate of fire, accuracy, chance of critical hit, </a:t>
            </a:r>
            <a:r>
              <a:rPr lang="en-US" u="none" strike="noStrike" dirty="0" err="1" smtClean="0">
                <a:effectLst/>
              </a:rPr>
              <a:t>etc</a:t>
            </a:r>
            <a:r>
              <a:rPr lang="en-US" u="none" strike="noStrike" dirty="0" smtClean="0">
                <a:effectLst/>
              </a:rPr>
              <a:t>).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Every once in a while, play will receive reinforcement of fresh tanks.</a:t>
            </a:r>
          </a:p>
          <a:p>
            <a:pPr lvl="0" algn="l" rtl="0"/>
            <a:endParaRPr lang="en-US" u="none" strike="noStrike" dirty="0" smtClean="0">
              <a:effectLst/>
            </a:endParaRPr>
          </a:p>
          <a:p>
            <a:pPr lvl="0" algn="l" rtl="0"/>
            <a:r>
              <a:rPr lang="en-US" u="none" strike="noStrike" dirty="0" smtClean="0">
                <a:effectLst/>
              </a:rPr>
              <a:t>Length of each level: ~5 min</a:t>
            </a:r>
          </a:p>
        </p:txBody>
      </p:sp>
      <p:sp>
        <p:nvSpPr>
          <p:cNvPr id="4" name="חץ פניית פרסה 3">
            <a:hlinkClick r:id="rId2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713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H:\Google Drive\Shmuel\שנקר\פרוייקט סיום\ANA Tan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905959"/>
            <a:ext cx="2448272" cy="183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units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 algn="l" rtl="0"/>
            <a:r>
              <a:rPr lang="en-US" dirty="0" smtClean="0"/>
              <a:t>American Tanks:</a:t>
            </a:r>
          </a:p>
          <a:p>
            <a:pPr lvl="1" algn="l" rtl="0"/>
            <a:r>
              <a:rPr lang="en-US" dirty="0" smtClean="0"/>
              <a:t>M-60A3 Patton</a:t>
            </a:r>
          </a:p>
          <a:p>
            <a:pPr lvl="1" algn="l" rtl="0"/>
            <a:r>
              <a:rPr lang="en-US" dirty="0" smtClean="0"/>
              <a:t>M-1 Abrams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 smtClean="0"/>
              <a:t>Soviet Tanks:</a:t>
            </a:r>
          </a:p>
          <a:p>
            <a:pPr lvl="1" algn="l" rtl="0"/>
            <a:r>
              <a:rPr lang="en-US" dirty="0" smtClean="0"/>
              <a:t>T-55</a:t>
            </a:r>
          </a:p>
          <a:p>
            <a:pPr lvl="1" algn="l" rtl="0"/>
            <a:r>
              <a:rPr lang="en-US" dirty="0" smtClean="0"/>
              <a:t>T-62</a:t>
            </a:r>
          </a:p>
          <a:p>
            <a:pPr lvl="1" algn="l" rtl="0"/>
            <a:r>
              <a:rPr lang="en-US" dirty="0" smtClean="0"/>
              <a:t>T-72</a:t>
            </a:r>
            <a:endParaRPr lang="he-IL" dirty="0"/>
          </a:p>
        </p:txBody>
      </p:sp>
      <p:pic>
        <p:nvPicPr>
          <p:cNvPr id="24579" name="Picture 3" descr="H:\Google Drive\Shmuel\שנקר\פרוייקט סיום\120727-abrams-js-11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83" y="1556792"/>
            <a:ext cx="2539303" cy="151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H:\Google Drive\Shmuel\שנקר\פרוייקט סיום\T-55_skos_R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188" y="2956400"/>
            <a:ext cx="3421163" cy="189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1" name="Picture 5" descr="H:\Google Drive\Shmuel\שנקר\פרוייקט סיום\4782651732_e7c960ac9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372" y="404664"/>
            <a:ext cx="1883714" cy="125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2" name="Picture 6" descr="H:\Google Drive\Shmuel\שנקר\פרוייקט סיום\t72_l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188" y="5085184"/>
            <a:ext cx="2287017" cy="169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06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Stats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Tank stats are as follows:</a:t>
            </a:r>
          </a:p>
          <a:p>
            <a:pPr lvl="1" algn="l" rtl="0"/>
            <a:r>
              <a:rPr lang="en-US" u="none" strike="noStrike" dirty="0" smtClean="0">
                <a:effectLst/>
                <a:hlinkClick r:id="rId2" action="ppaction://hlinksldjump"/>
              </a:rPr>
              <a:t>Armor</a:t>
            </a:r>
            <a:r>
              <a:rPr lang="en-US" u="none" strike="noStrike" dirty="0" smtClean="0">
                <a:effectLst/>
              </a:rPr>
              <a:t>: The amount of damage point reduced from each shell that hits the tank.</a:t>
            </a:r>
          </a:p>
          <a:p>
            <a:pPr lvl="1" algn="l" rtl="0"/>
            <a:r>
              <a:rPr lang="en-US" u="none" strike="noStrike" dirty="0" smtClean="0">
                <a:effectLst/>
                <a:hlinkClick r:id="rId3" action="ppaction://hlinksldjump"/>
              </a:rPr>
              <a:t>Hit points</a:t>
            </a:r>
            <a:r>
              <a:rPr lang="en-US" u="none" strike="noStrike" dirty="0" smtClean="0">
                <a:effectLst/>
              </a:rPr>
              <a:t>: The amount of damage each tank can withstand. When HP is reduced to 0, tank is destroyed.</a:t>
            </a:r>
          </a:p>
          <a:p>
            <a:pPr lvl="1" algn="l" rtl="0"/>
            <a:r>
              <a:rPr lang="en-US" u="none" strike="noStrike" dirty="0" smtClean="0">
                <a:effectLst/>
                <a:hlinkClick r:id="rId4" action="ppaction://hlinksldjump"/>
              </a:rPr>
              <a:t>Damage</a:t>
            </a:r>
            <a:r>
              <a:rPr lang="en-US" u="none" strike="noStrike" dirty="0" smtClean="0">
                <a:effectLst/>
              </a:rPr>
              <a:t>: The amount of HP that each shot reduces to the tank it hits.</a:t>
            </a:r>
          </a:p>
          <a:p>
            <a:pPr lvl="1" algn="l" rtl="0"/>
            <a:r>
              <a:rPr lang="en-US" u="none" strike="noStrike" dirty="0" smtClean="0">
                <a:effectLst/>
                <a:hlinkClick r:id="rId5" action="ppaction://hlinksldjump"/>
              </a:rPr>
              <a:t>Rate of Fire</a:t>
            </a:r>
            <a:r>
              <a:rPr lang="en-US" u="none" strike="noStrike" dirty="0" smtClean="0">
                <a:effectLst/>
              </a:rPr>
              <a:t>: The number of shots each tank can fire per minute.</a:t>
            </a:r>
          </a:p>
          <a:p>
            <a:pPr lvl="1" algn="l" rtl="0"/>
            <a:r>
              <a:rPr lang="en-US" u="none" strike="noStrike" dirty="0" smtClean="0">
                <a:effectLst/>
                <a:hlinkClick r:id="rId6" action="ppaction://hlinksldjump"/>
              </a:rPr>
              <a:t>Accuracy</a:t>
            </a:r>
            <a:r>
              <a:rPr lang="en-US" u="none" strike="noStrike" dirty="0" smtClean="0">
                <a:effectLst/>
              </a:rPr>
              <a:t>: The chance of each shot fired to hit the target (in percentages).</a:t>
            </a:r>
          </a:p>
          <a:p>
            <a:pPr lvl="1" algn="l" rtl="0"/>
            <a:r>
              <a:rPr lang="en-US" dirty="0" smtClean="0">
                <a:hlinkClick r:id="rId7" action="ppaction://hlinksldjump"/>
              </a:rPr>
              <a:t>Speed</a:t>
            </a:r>
            <a:r>
              <a:rPr lang="en-US" dirty="0" smtClean="0"/>
              <a:t>: Speed of tank across even terrain.</a:t>
            </a:r>
            <a:endParaRPr lang="en-US" u="none" strike="noStrike" dirty="0" smtClean="0">
              <a:effectLst/>
            </a:endParaRP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099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Armor Points</a:t>
            </a:r>
            <a:endParaRPr lang="he-IL" dirty="0"/>
          </a:p>
        </p:txBody>
      </p:sp>
      <p:graphicFrame>
        <p:nvGraphicFramePr>
          <p:cNvPr id="8" name="מציין מיקום תוכן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480850"/>
              </p:ext>
            </p:extLst>
          </p:nvPr>
        </p:nvGraphicFramePr>
        <p:xfrm>
          <a:off x="1115616" y="4437112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Armor Points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35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תרשים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75736"/>
              </p:ext>
            </p:extLst>
          </p:nvPr>
        </p:nvGraphicFramePr>
        <p:xfrm>
          <a:off x="1907704" y="1484784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חץ פניית פרסה 8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24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Hit Points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508339"/>
              </p:ext>
            </p:extLst>
          </p:nvPr>
        </p:nvGraphicFramePr>
        <p:xfrm>
          <a:off x="1081336" y="4365104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Tank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Hit Points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600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T-72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600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7008205"/>
              </p:ext>
            </p:extLst>
          </p:nvPr>
        </p:nvGraphicFramePr>
        <p:xfrm>
          <a:off x="2195736" y="1484784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86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Damage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068930"/>
              </p:ext>
            </p:extLst>
          </p:nvPr>
        </p:nvGraphicFramePr>
        <p:xfrm>
          <a:off x="1331640" y="4293096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Damage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100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50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100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8340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873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 of Fire</a:t>
            </a:r>
            <a:endParaRPr lang="he-IL" dirty="0"/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403919"/>
              </p:ext>
            </p:extLst>
          </p:nvPr>
        </p:nvGraphicFramePr>
        <p:xfrm>
          <a:off x="1403648" y="4365104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Tank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100" u="none" strike="noStrike" dirty="0">
                          <a:effectLst/>
                        </a:rPr>
                        <a:t>Rate of fire (shots per minute)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3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2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018281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חץ פניית פרסה 6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76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</a:t>
            </a:r>
            <a:endParaRPr lang="he-IL" dirty="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440998"/>
              </p:ext>
            </p:extLst>
          </p:nvPr>
        </p:nvGraphicFramePr>
        <p:xfrm>
          <a:off x="1115616" y="4581128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Accuracy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70%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90%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65%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80%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90%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280116"/>
              </p:ext>
            </p:extLst>
          </p:nvPr>
        </p:nvGraphicFramePr>
        <p:xfrm>
          <a:off x="2051720" y="1628800"/>
          <a:ext cx="66675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חץ פניית פרסה 5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13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Speed</a:t>
            </a:r>
            <a:endParaRPr lang="he-IL" dirty="0"/>
          </a:p>
        </p:txBody>
      </p:sp>
      <p:graphicFrame>
        <p:nvGraphicFramePr>
          <p:cNvPr id="5" name="מציין מיקום תוכן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914859"/>
              </p:ext>
            </p:extLst>
          </p:nvPr>
        </p:nvGraphicFramePr>
        <p:xfrm>
          <a:off x="1835696" y="4437112"/>
          <a:ext cx="1790700" cy="18097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04900"/>
                <a:gridCol w="685800"/>
              </a:tblGrid>
              <a:tr h="9048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Tank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 dirty="0">
                          <a:effectLst/>
                        </a:rPr>
                        <a:t>Speed (Meters/Second)</a:t>
                      </a:r>
                      <a:endParaRPr lang="la-Lat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M-60A3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M1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75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T-55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90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T-62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>
                          <a:effectLst/>
                        </a:rPr>
                        <a:t>80</a:t>
                      </a:r>
                      <a:endParaRPr lang="he-IL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80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la-Latn" sz="1100" u="none" strike="noStrike">
                          <a:effectLst/>
                        </a:rPr>
                        <a:t>T-72</a:t>
                      </a:r>
                      <a:endParaRPr lang="la-Lat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u="none" strike="noStrike" dirty="0">
                          <a:effectLst/>
                        </a:rPr>
                        <a:t>65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4" name="תרשים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351942"/>
              </p:ext>
            </p:extLst>
          </p:nvPr>
        </p:nvGraphicFramePr>
        <p:xfrm>
          <a:off x="2411760" y="1628800"/>
          <a:ext cx="62484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חץ פניית פרסה 5">
            <a:hlinkClick r:id="rId3" action="ppaction://hlinksldjump"/>
          </p:cNvPr>
          <p:cNvSpPr/>
          <p:nvPr/>
        </p:nvSpPr>
        <p:spPr>
          <a:xfrm>
            <a:off x="462135" y="6063192"/>
            <a:ext cx="504056" cy="62969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150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Monetization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Game will be free to play.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Game will have 2 types of currency: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Requisition point: In game currency. Will be given for killing Soviet tanks and completing achievements.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Virtual currency: will be bought with money.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will be able to buy all the munitions with virtual currency and in-game currency.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Player will be able to buy reinforcement tanks with virtual currency and in-game currency.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(Optional) Player will be able to unlock further expansions/episodes (i.e. World War II scenarios, futuristic imaginary scenarios, etc.) with virtual currency and in-game currency. 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0225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GUI:</a:t>
            </a:r>
            <a:r>
              <a:rPr lang="en-US" dirty="0"/>
              <a:t/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39552" y="1052736"/>
            <a:ext cx="8229600" cy="4525963"/>
          </a:xfrm>
        </p:spPr>
        <p:txBody>
          <a:bodyPr>
            <a:normAutofit fontScale="92500"/>
          </a:bodyPr>
          <a:lstStyle/>
          <a:p>
            <a:pPr algn="l" rtl="0"/>
            <a:r>
              <a:rPr lang="en-US" dirty="0"/>
              <a:t>The game will contain the following GUI: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Requisition Points (Below score, numerical)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HP bar - will indicate severity of damage done to the tank (above each American tank, bar). 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Munition types - will indicate amount of the different types of munitions available t the player remaining (top of the screen, numerical + munition icon).</a:t>
            </a:r>
          </a:p>
          <a:p>
            <a:pPr lvl="1" algn="l" rtl="0"/>
            <a:r>
              <a:rPr lang="en-US" u="none" strike="noStrike" dirty="0" smtClean="0">
                <a:effectLst/>
              </a:rPr>
              <a:t>Control Score bar – will indicate the amount of Control Score both parties have, in relation to the goal and to each other (top-middle screen, bar).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3091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Wireframe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1506" name="Picture 2" descr="H:\Google Drive\Shmuel\שנקר\פרוייקט סיום\FSCORD - General Wirefram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51896" y="88394"/>
            <a:ext cx="5518110" cy="779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29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l" rtl="0"/>
            <a:r>
              <a:rPr lang="en-US" u="none" strike="noStrike" dirty="0" smtClean="0">
                <a:effectLst/>
              </a:rPr>
              <a:t>The game will be 3D Top-orthographic view, with limited camera control (limited zoom, pan and roam).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The game will portray the tanks in a distinct manner (player will be able to differentiate between the different tanks in the game), using 3D models (probably bought from asset stores).</a:t>
            </a:r>
          </a:p>
          <a:p>
            <a:pPr lvl="0" algn="l" rtl="0"/>
            <a:r>
              <a:rPr lang="en-US" u="none" strike="noStrike" dirty="0" smtClean="0">
                <a:effectLst/>
              </a:rPr>
              <a:t>Levels will try to depict the terrain of Fulda gap and stay authentic to the terrain and foliage of western Germany.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783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/>
              <a:t>Game Engine:</a:t>
            </a:r>
            <a:r>
              <a:rPr lang="en-US" dirty="0"/>
              <a:t> Unreal Engine 4</a:t>
            </a:r>
          </a:p>
          <a:p>
            <a:pPr marL="0" indent="0" algn="l" rtl="0">
              <a:buNone/>
            </a:pPr>
            <a:r>
              <a:rPr lang="en-US" dirty="0"/>
              <a:t> </a:t>
            </a:r>
          </a:p>
          <a:p>
            <a:pPr algn="l" rtl="0"/>
            <a:r>
              <a:rPr lang="en-US" b="1" dirty="0"/>
              <a:t>Other production tools: </a:t>
            </a:r>
            <a:r>
              <a:rPr lang="en-US" dirty="0"/>
              <a:t>Photoshop, 3DS Max, Unreal/Unity asset stores.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6585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Files</a:t>
            </a:r>
            <a:endParaRPr lang="he-IL" dirty="0"/>
          </a:p>
        </p:txBody>
      </p:sp>
      <p:graphicFrame>
        <p:nvGraphicFramePr>
          <p:cNvPr id="4" name="מציין מיקום תוכן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97972"/>
              </p:ext>
            </p:extLst>
          </p:nvPr>
        </p:nvGraphicFramePr>
        <p:xfrm>
          <a:off x="6660232" y="170080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מסמך" showAsIcon="1" r:id="rId3" imgW="914400" imgH="771480" progId="Word.Document.12">
                  <p:embed/>
                </p:oleObj>
              </mc:Choice>
              <mc:Fallback>
                <p:oleObj name="מסמך" showAsIcon="1" r:id="rId3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0232" y="170080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אובייקט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33209"/>
              </p:ext>
            </p:extLst>
          </p:nvPr>
        </p:nvGraphicFramePr>
        <p:xfrm>
          <a:off x="4427984" y="16288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גליון עבודה" showAsIcon="1" r:id="rId5" imgW="914400" imgH="771480" progId="Excel.Sheet.12">
                  <p:embed/>
                </p:oleObj>
              </mc:Choice>
              <mc:Fallback>
                <p:oleObj name="גליון עבודה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984" y="16288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28184" y="1240499"/>
            <a:ext cx="19442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Concept Paper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3395811" y="1239430"/>
            <a:ext cx="28083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Preliminary Game Statistics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6877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1436</Words>
  <Application>Microsoft Office PowerPoint</Application>
  <PresentationFormat>‫הצגה על המסך (4:3)</PresentationFormat>
  <Paragraphs>312</Paragraphs>
  <Slides>29</Slides>
  <Notes>0</Notes>
  <HiddenSlides>14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29</vt:i4>
      </vt:variant>
    </vt:vector>
  </HeadingPairs>
  <TitlesOfParts>
    <vt:vector size="30" baseType="lpstr">
      <vt:lpstr>ערכת נושא Office</vt:lpstr>
      <vt:lpstr>FSCORD – Battle for Fulda Gap</vt:lpstr>
      <vt:lpstr>Concept</vt:lpstr>
      <vt:lpstr>Plot</vt:lpstr>
      <vt:lpstr>Controls</vt:lpstr>
      <vt:lpstr>High Explosive</vt:lpstr>
      <vt:lpstr>Cluster High Explosive</vt:lpstr>
      <vt:lpstr>Napalm Strike</vt:lpstr>
      <vt:lpstr>Scatrable Mines</vt:lpstr>
      <vt:lpstr>Daisy Cutter</vt:lpstr>
      <vt:lpstr>Tactical Nuke</vt:lpstr>
      <vt:lpstr>Artillery Damage</vt:lpstr>
      <vt:lpstr>Gameplay</vt:lpstr>
      <vt:lpstr>Gameplay Details</vt:lpstr>
      <vt:lpstr>Game Levels Progression</vt:lpstr>
      <vt:lpstr>Game Level Progression Details</vt:lpstr>
      <vt:lpstr>Game units</vt:lpstr>
      <vt:lpstr>Unit Stats</vt:lpstr>
      <vt:lpstr>Armor Points</vt:lpstr>
      <vt:lpstr>Hit Points</vt:lpstr>
      <vt:lpstr>Damage</vt:lpstr>
      <vt:lpstr>Rate of Fire</vt:lpstr>
      <vt:lpstr>Accuracy</vt:lpstr>
      <vt:lpstr>Speed</vt:lpstr>
      <vt:lpstr>Monetization</vt:lpstr>
      <vt:lpstr>GUI: </vt:lpstr>
      <vt:lpstr>General Wireframe</vt:lpstr>
      <vt:lpstr>Visual</vt:lpstr>
      <vt:lpstr>Tools</vt:lpstr>
      <vt:lpstr>Files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PrimusPilus</dc:creator>
  <cp:lastModifiedBy>PrimusPilus</cp:lastModifiedBy>
  <cp:revision>12</cp:revision>
  <dcterms:created xsi:type="dcterms:W3CDTF">2015-07-15T19:15:07Z</dcterms:created>
  <dcterms:modified xsi:type="dcterms:W3CDTF">2015-07-15T22:17:12Z</dcterms:modified>
</cp:coreProperties>
</file>